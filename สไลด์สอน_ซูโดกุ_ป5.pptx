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เปิดคาบด้วยพลังงานเชิงบวก แนะนำเรื่องและเชื่อมโยงว่าวันนี้จะได้เล่นเกมซูโดกุเพื่อฝึกการใช้เหตุผลเชิงตรรกะ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แจ้งจุดประสงค์ทั้ง 3 ด้าน เน้นว่าปลายทางคือแก้ปริศนาได้เองอย่างมีเหตุผล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ให้เด็กช่วยกันตัดตัวเลือกทีละเงื่อนไข ค่อย ๆ เฉลย 100 แล้วสรุปคำว่า 'ใช้เหตุผลเชิงตรรกะ'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เชื่อมจากเกมทายเลข ไปสู่กติกาซูโดกุที่ต้องใช้เหตุผลเชิงพื้นที่/รูปแบบ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ชี้ให้เห็นทั้ง 3 เงื่อนไข ระบบ FlowQuest จะไฮไลต์แดงเมื่อเติมซ้ำในเงื่อนไขใดเงื่อนไขหนึ่ง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ให้เด็กสังเกตว่าแถวบนเหลือช่องเดียว จึงเติมได้ทันทีอย่างมั่นใจ ต่างจากการเดาช่องที่มีตัวเลือกเยอะ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อธิบายขั้นตอนสั้น ๆ แล้วปล่อยให้เด็กสำรวจกติกาด้วยตนเองผ่าน Instant Feedback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ครูเดินซักถามรายคน ใช้ช่วงนี้ประเมิน P2 (การให้เหตุผล + การแก้จุดบกพร่อง)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ให้เด็กทุกคนพิมพ์คำตอบของตนเอง เป็นหลักฐานวัด K รายบุคคล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ย้ำมโนทัศน์หลักและให้เด็กเห็นว่าตรรกะใช้ได้ทุกเรื่องรอบตัว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15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515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515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2591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2591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2591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2591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0023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0023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0023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0023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7455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7455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7455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7455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4887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4887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4887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4887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8231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8231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8231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8231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วิทยาการคำนวณ ป.5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15544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การใช้เหตุผลเชิงตรรกะ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แก้ปัญหาด้วยเกม</a:t>
            </a:r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22D3E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ซูโดกุ</a:t>
            </a:r>
            <a:endParaRPr lang="en-US" sz="5000" dirty="0"/>
          </a:p>
        </p:txBody>
      </p:sp>
      <p:sp>
        <p:nvSpPr>
          <p:cNvPr id="28" name="Text 26"/>
          <p:cNvSpPr/>
          <p:nvPr/>
        </p:nvSpPr>
        <p:spPr>
          <a:xfrm>
            <a:off x="640080" y="37947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สัญลักษณ์ตาราง 4×4 → 6×6 • เรียนรู้เชิงรุก (Active Learning) ผ่านระบบ FlowQuest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0080" y="5669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ครูผู้สอน  นายภาณุพงษ์ ดอนกระโทก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โรงเรียนโชคชัยพรหมบุตรบริหาร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29600" y="1371600"/>
            <a:ext cx="3200400" cy="3840480"/>
          </a:xfrm>
          <a:prstGeom prst="roundRect">
            <a:avLst>
              <a:gd name="adj" fmla="val 2571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49640" y="1828800"/>
            <a:ext cx="640080" cy="640080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189720" y="1828800"/>
            <a:ext cx="640080" cy="640080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29800" y="1828800"/>
            <a:ext cx="640080" cy="640080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69880" y="1828800"/>
            <a:ext cx="640080" cy="640080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698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8549640" y="2468880"/>
            <a:ext cx="640080" cy="640080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89720" y="2468880"/>
            <a:ext cx="640080" cy="640080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897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9829800" y="2468880"/>
            <a:ext cx="640080" cy="640080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69880" y="2468880"/>
            <a:ext cx="640080" cy="640080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49640" y="3108960"/>
            <a:ext cx="640080" cy="640080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89720" y="3108960"/>
            <a:ext cx="640080" cy="640080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29800" y="3108960"/>
            <a:ext cx="640080" cy="640080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2980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10469880" y="3108960"/>
            <a:ext cx="640080" cy="640080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49640" y="3749040"/>
            <a:ext cx="640080" cy="640080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4964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9189720" y="3749040"/>
            <a:ext cx="640080" cy="640080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29800" y="3749040"/>
            <a:ext cx="640080" cy="640080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69880" y="3749040"/>
            <a:ext cx="640080" cy="640080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46988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8549640" y="1828800"/>
            <a:ext cx="25603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49640" y="3108960"/>
            <a:ext cx="25603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49640" y="4389120"/>
            <a:ext cx="25603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49640" y="1828800"/>
            <a:ext cx="0" cy="256032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829800" y="1828800"/>
            <a:ext cx="0" cy="256032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109960" y="1828800"/>
            <a:ext cx="0" cy="256032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ว 4.2 ป.5/1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15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515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515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2591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2591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2591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2591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0023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0023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0023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0023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7455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7455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7455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7455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4887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4887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4887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4887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8231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8231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8231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8231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 // K-P-A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จุดประสงค์การเรียนรู้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640080" y="1920240"/>
            <a:ext cx="3429000" cy="3840480"/>
          </a:xfrm>
          <a:prstGeom prst="roundRect">
            <a:avLst>
              <a:gd name="adj" fmla="val 2400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16200000">
              <a:srgbClr val="22D3EE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0120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K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96596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ความรู้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60120" y="342900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อธิบายหลักการใช้เหตุผลเชิงตรรกะ (นำเงื่อนไขที่ครอบคลุมทุกกรณีมาพิจารณา) และกติกาซูโดกุได้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343400" y="1920240"/>
            <a:ext cx="3429000" cy="3840480"/>
          </a:xfrm>
          <a:prstGeom prst="roundRect">
            <a:avLst>
              <a:gd name="adj" fmla="val 2400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286000"/>
            <a:ext cx="868680" cy="86868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77800" dist="50800" dir="16200000">
              <a:srgbClr val="3B82F6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66928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ทักษะ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63440" y="342900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แก้ปริศนาซูโดกุโดยใช้เหตุผลเชิงตรรกะ และวางกลยุทธ์เริ่มจากช่องที่ตัวเลือกน้อยที่สุด ผ่าน FlowQuest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46720" y="1920240"/>
            <a:ext cx="3429000" cy="3840480"/>
          </a:xfrm>
          <a:prstGeom prst="roundRect">
            <a:avLst>
              <a:gd name="adj" fmla="val 2400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66760" y="2286000"/>
            <a:ext cx="868680" cy="86868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16200000">
              <a:srgbClr val="34D399">
                <a:alpha val="5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366760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37260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เจตคติ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366760" y="342900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มุ่งมั่น ซื่อสัตย์ต่อตนเอง กล้าลองผิดลองถูก และตรวจแก้ข้อผิดพลาดด้วยตนเองจนสำเร็จ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15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515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515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2591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2591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2591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2591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0023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0023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0023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0023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7455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7455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7455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7455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4887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4887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4887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4887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8231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8231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8231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8231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ENGAGE // 10 MIN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ขั้นนำ: เกมทายเลขจากเงื่อนไข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640080" y="1920240"/>
            <a:ext cx="6766560" cy="4206240"/>
          </a:xfrm>
          <a:prstGeom prst="roundRect">
            <a:avLst>
              <a:gd name="adj" fmla="val 1957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05840" y="219456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ฉันเป็นตัวเลข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ฉันไม่ใช่จำนวนคี่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ฉันมีค่ามากกว่า 90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ฉันมีค่าไม่เกิน 100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ถ้าเอา 100 มาลบฉัน จะไม่เหลืออะไรเลย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ฉันคือเลขใด ?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1005840" y="5212080"/>
            <a:ext cx="731520" cy="73152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16200000">
              <a:srgbClr val="34D399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584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=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874520" y="5212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คำตอบคือ 100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7772400" y="1920240"/>
            <a:ext cx="3749040" cy="4206240"/>
          </a:xfrm>
          <a:prstGeom prst="roundRect">
            <a:avLst>
              <a:gd name="adj" fmla="val 2195"/>
            </a:avLst>
          </a:prstGeom>
          <a:solidFill>
            <a:srgbClr val="1A234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09244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092440" y="283464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การนำเงื่อนไขที่โจทย์กำหนดมาพิจารณาทีละข้ออย่างครอบคลุม จนเหลือคำตอบที่เป็นไปได้เพียงหนึ่งเดียว เรียกว่า การใช้เหตุผลเชิงตรรกะ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15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515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515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2591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2591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2591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2591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0023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0023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0023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0023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7455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7455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7455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7455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4887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4887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4887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4887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8231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8231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8231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8231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การใช้เหตุผลเชิงตรรกะ คืออะไร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640080" y="2011680"/>
            <a:ext cx="10908792" cy="1737360"/>
          </a:xfrm>
          <a:prstGeom prst="roundRect">
            <a:avLst>
              <a:gd name="adj" fmla="val 4737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05840" y="2240280"/>
            <a:ext cx="10177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นำ </a:t>
            </a:r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2D3E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เงื่อนไขที่ครอบคลุมทุกกรณี</a:t>
            </a:r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มาพิจารณา เพื่อหา </a:t>
            </a:r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34D3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คำตอบที่ถูกต้องเพียงหนึ่งเดียว</a:t>
            </a:r>
            <a:endParaRPr lang="en-US" sz="2700" dirty="0"/>
          </a:p>
        </p:txBody>
      </p:sp>
      <p:sp>
        <p:nvSpPr>
          <p:cNvPr id="30" name="Shape 28"/>
          <p:cNvSpPr/>
          <p:nvPr/>
        </p:nvSpPr>
        <p:spPr>
          <a:xfrm>
            <a:off x="640080" y="4114800"/>
            <a:ext cx="3429000" cy="2011680"/>
          </a:xfrm>
          <a:prstGeom prst="roundRect">
            <a:avLst>
              <a:gd name="adj" fmla="val 4091"/>
            </a:avLst>
          </a:prstGeom>
          <a:solidFill>
            <a:srgbClr val="1A234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0120" y="4343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60120" y="5074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พิจารณาอย่างเป็นขั้นตอน มีเหตุผลรองรับ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4343400" y="4114800"/>
            <a:ext cx="3429000" cy="2011680"/>
          </a:xfrm>
          <a:prstGeom prst="roundRect">
            <a:avLst>
              <a:gd name="adj" fmla="val 4091"/>
            </a:avLst>
          </a:prstGeom>
          <a:solidFill>
            <a:srgbClr val="1A234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63440" y="4343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4663440" y="5074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คาดการณ์ผลลัพธ์จากเงื่อนไขได้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8046720" y="4114800"/>
            <a:ext cx="3429000" cy="2011680"/>
          </a:xfrm>
          <a:prstGeom prst="roundRect">
            <a:avLst>
              <a:gd name="adj" fmla="val 4091"/>
            </a:avLst>
          </a:prstGeom>
          <a:solidFill>
            <a:srgbClr val="1A234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66760" y="4343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8366760" y="5074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เป็นพื้นฐานของการคิดเชิงคำนวณ (CT)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15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515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515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2591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2591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2591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2591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0023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0023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0023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0023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7455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7455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7455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7455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4887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4887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4887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4887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8231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8231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8231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8231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กติกาซูโดกุ: ห้ามซ้ำใน 3 เงื่อนไข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640080" y="1965960"/>
            <a:ext cx="3429000" cy="4160520"/>
          </a:xfrm>
          <a:prstGeom prst="roundRect">
            <a:avLst>
              <a:gd name="adj" fmla="val 2400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325880" y="2331720"/>
            <a:ext cx="512064" cy="512064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37944" y="2331720"/>
            <a:ext cx="512064" cy="512064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0008" y="2331720"/>
            <a:ext cx="512064" cy="512064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62072" y="2331720"/>
            <a:ext cx="512064" cy="512064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25880" y="2843784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37944" y="2843784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0008" y="2843784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62072" y="2843784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25880" y="3355848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37944" y="3355848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50008" y="3355848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62072" y="3355848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25880" y="3867912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37944" y="3867912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50008" y="3867912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62072" y="3867912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25880" y="2331720"/>
            <a:ext cx="20482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5880" y="3355848"/>
            <a:ext cx="20482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25880" y="4379976"/>
            <a:ext cx="20482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25880" y="2331720"/>
            <a:ext cx="0" cy="2048256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50008" y="2331720"/>
            <a:ext cx="0" cy="2048256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74136" y="2331720"/>
            <a:ext cx="0" cy="2048256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0120" y="5394960"/>
            <a:ext cx="502920" cy="50292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16200000">
              <a:srgbClr val="22D3EE">
                <a:alpha val="5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6012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600200" y="5394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แถวแนวนอน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4343400" y="1965960"/>
            <a:ext cx="3429000" cy="4160520"/>
          </a:xfrm>
          <a:prstGeom prst="roundRect">
            <a:avLst>
              <a:gd name="adj" fmla="val 2400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029200" y="2331720"/>
            <a:ext cx="512064" cy="512064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41264" y="2331720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53328" y="2331720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65392" y="2331720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0" y="2843784"/>
            <a:ext cx="512064" cy="512064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41264" y="2843784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53328" y="2843784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65392" y="2843784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29200" y="3355848"/>
            <a:ext cx="512064" cy="512064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41264" y="3355848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53328" y="3355848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65392" y="3355848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29200" y="3867912"/>
            <a:ext cx="512064" cy="512064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541264" y="3867912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53328" y="3867912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65392" y="3867912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029200" y="2331720"/>
            <a:ext cx="20482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029200" y="3355848"/>
            <a:ext cx="20482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29200" y="4379976"/>
            <a:ext cx="20482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29200" y="2331720"/>
            <a:ext cx="0" cy="2048256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53328" y="2331720"/>
            <a:ext cx="0" cy="2048256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077456" y="2331720"/>
            <a:ext cx="0" cy="2048256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63440" y="5394960"/>
            <a:ext cx="502920" cy="50292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77800" dist="50800" dir="16200000">
              <a:srgbClr val="3B82F6">
                <a:alpha val="5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66344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endParaRPr lang="en-US" sz="2200" dirty="0"/>
          </a:p>
        </p:txBody>
      </p:sp>
      <p:sp>
        <p:nvSpPr>
          <p:cNvPr id="79" name="Text 77"/>
          <p:cNvSpPr/>
          <p:nvPr/>
        </p:nvSpPr>
        <p:spPr>
          <a:xfrm>
            <a:off x="5303520" y="5394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แถวแนวตั้ง</a:t>
            </a:r>
            <a:endParaRPr lang="en-US" sz="2200" dirty="0"/>
          </a:p>
        </p:txBody>
      </p:sp>
      <p:sp>
        <p:nvSpPr>
          <p:cNvPr id="80" name="Shape 78"/>
          <p:cNvSpPr/>
          <p:nvPr/>
        </p:nvSpPr>
        <p:spPr>
          <a:xfrm>
            <a:off x="8046720" y="1965960"/>
            <a:ext cx="3429000" cy="4160520"/>
          </a:xfrm>
          <a:prstGeom prst="roundRect">
            <a:avLst>
              <a:gd name="adj" fmla="val 2400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8732520" y="2331720"/>
            <a:ext cx="512064" cy="512064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244584" y="2331720"/>
            <a:ext cx="512064" cy="512064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756648" y="2331720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268712" y="2331720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732520" y="2843784"/>
            <a:ext cx="512064" cy="512064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244584" y="2843784"/>
            <a:ext cx="512064" cy="512064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756648" y="2843784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268712" y="2843784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32520" y="3355848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244584" y="3355848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756648" y="3355848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268712" y="3355848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732520" y="3867912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244584" y="3867912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756648" y="3867912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268712" y="3867912"/>
            <a:ext cx="512064" cy="512064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32520" y="2331720"/>
            <a:ext cx="20482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32520" y="3355848"/>
            <a:ext cx="20482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32520" y="4379976"/>
            <a:ext cx="20482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32520" y="2331720"/>
            <a:ext cx="0" cy="2048256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756648" y="2331720"/>
            <a:ext cx="0" cy="2048256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780776" y="2331720"/>
            <a:ext cx="0" cy="2048256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366760" y="5394960"/>
            <a:ext cx="502920" cy="50292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16200000">
              <a:srgbClr val="34D399">
                <a:alpha val="50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836676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endParaRPr lang="en-US" sz="2200" dirty="0"/>
          </a:p>
        </p:txBody>
      </p:sp>
      <p:sp>
        <p:nvSpPr>
          <p:cNvPr id="105" name="Text 103"/>
          <p:cNvSpPr/>
          <p:nvPr/>
        </p:nvSpPr>
        <p:spPr>
          <a:xfrm>
            <a:off x="9006840" y="5394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ตารางย่อย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15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515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515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2591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2591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2591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2591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0023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0023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0023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0023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7455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7455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7455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7455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4887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4887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4887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4887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8231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8231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8231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8231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กลยุทธ์: เริ่มจากช่องที่ตัวเลือกน้อยที่สุด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640080" y="1965960"/>
            <a:ext cx="4754880" cy="4160520"/>
          </a:xfrm>
          <a:prstGeom prst="roundRect">
            <a:avLst>
              <a:gd name="adj" fmla="val 1978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417320" y="2377440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160" dirty="0"/>
          </a:p>
        </p:txBody>
      </p:sp>
      <p:sp>
        <p:nvSpPr>
          <p:cNvPr id="31" name="Shape 29"/>
          <p:cNvSpPr/>
          <p:nvPr/>
        </p:nvSpPr>
        <p:spPr>
          <a:xfrm>
            <a:off x="2075688" y="2377440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5688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160" dirty="0"/>
          </a:p>
        </p:txBody>
      </p:sp>
      <p:sp>
        <p:nvSpPr>
          <p:cNvPr id="33" name="Shape 31"/>
          <p:cNvSpPr/>
          <p:nvPr/>
        </p:nvSpPr>
        <p:spPr>
          <a:xfrm>
            <a:off x="2734056" y="2377440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34056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160" dirty="0"/>
          </a:p>
        </p:txBody>
      </p:sp>
      <p:sp>
        <p:nvSpPr>
          <p:cNvPr id="35" name="Shape 33"/>
          <p:cNvSpPr/>
          <p:nvPr/>
        </p:nvSpPr>
        <p:spPr>
          <a:xfrm>
            <a:off x="3392424" y="2377440"/>
            <a:ext cx="658368" cy="658368"/>
          </a:xfrm>
          <a:prstGeom prst="rect">
            <a:avLst/>
          </a:prstGeom>
          <a:solidFill>
            <a:srgbClr val="FBBF24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17320" y="3035808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75688" y="3035808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75688" y="3035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160" dirty="0"/>
          </a:p>
        </p:txBody>
      </p:sp>
      <p:sp>
        <p:nvSpPr>
          <p:cNvPr id="39" name="Shape 37"/>
          <p:cNvSpPr/>
          <p:nvPr/>
        </p:nvSpPr>
        <p:spPr>
          <a:xfrm>
            <a:off x="2734056" y="3035808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92424" y="3035808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17320" y="3694176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75688" y="3694176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34056" y="3694176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34056" y="36941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160" dirty="0"/>
          </a:p>
        </p:txBody>
      </p:sp>
      <p:sp>
        <p:nvSpPr>
          <p:cNvPr id="45" name="Shape 43"/>
          <p:cNvSpPr/>
          <p:nvPr/>
        </p:nvSpPr>
        <p:spPr>
          <a:xfrm>
            <a:off x="3392424" y="3694176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17320" y="4352544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17320" y="43525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160" dirty="0"/>
          </a:p>
        </p:txBody>
      </p:sp>
      <p:sp>
        <p:nvSpPr>
          <p:cNvPr id="48" name="Shape 46"/>
          <p:cNvSpPr/>
          <p:nvPr/>
        </p:nvSpPr>
        <p:spPr>
          <a:xfrm>
            <a:off x="2075688" y="4352544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34056" y="4352544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92424" y="4352544"/>
            <a:ext cx="658368" cy="658368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92424" y="43525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160" dirty="0"/>
          </a:p>
        </p:txBody>
      </p:sp>
      <p:sp>
        <p:nvSpPr>
          <p:cNvPr id="52" name="Shape 50"/>
          <p:cNvSpPr/>
          <p:nvPr/>
        </p:nvSpPr>
        <p:spPr>
          <a:xfrm>
            <a:off x="1417320" y="2377440"/>
            <a:ext cx="263347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17320" y="3694176"/>
            <a:ext cx="263347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417320" y="5010912"/>
            <a:ext cx="263347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417320" y="2377440"/>
            <a:ext cx="0" cy="2633472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34056" y="2377440"/>
            <a:ext cx="0" cy="2633472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050792" y="2377440"/>
            <a:ext cx="0" cy="2633472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5623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มีช่องว่างเดียว → คำตอบเดียว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852160" y="1965960"/>
            <a:ext cx="5669280" cy="4160520"/>
          </a:xfrm>
          <a:prstGeom prst="roundRect">
            <a:avLst>
              <a:gd name="adj" fmla="val 1978"/>
            </a:avLst>
          </a:prstGeom>
          <a:solidFill>
            <a:srgbClr val="1A234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217920" y="237744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2D3E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ทำไมต้องเริ่มจากช่องที่ว่างน้อยที่สุด?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ช่องที่เหลือตัวเลือกน้อย = สรุปคำตอบได้แน่นอน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ไม่ต้องเดาสุ่ม → ผิดพลาดน้อยลง → แก้ได้เร็วขึ้น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6217920" y="5303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นี่คือการคิดอย่างเป็นระบบ (Algorithmic Thinking)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15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515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515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2591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2591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2591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2591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0023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0023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0023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0023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7455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7455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7455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7455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4887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4887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4887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4887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8231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8231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8231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8231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 // HANDS-ON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ลงมือทำในระบบ FlowQuest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640080" y="1965960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2130552"/>
            <a:ext cx="594360" cy="5943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16200000">
              <a:srgbClr val="22D3EE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783080" y="2011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เข้าสู่ระบบ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5852160" y="2011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ด้วยรหัสของตนเอง (รายบุคคล คนละ 1 เครื่อง)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40080" y="3026664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4400" y="3191256"/>
            <a:ext cx="594360" cy="5943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16200000">
              <a:srgbClr val="22D3EE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14400" y="31912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783080" y="307238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เลือกด่านซูโดกุ 4×4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5852160" y="307238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แล้วแตะช่อง → เลือกสัญลักษณ์เติม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40080" y="4087368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14400" y="4251960"/>
            <a:ext cx="594360" cy="5943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16200000">
              <a:srgbClr val="22D3EE">
                <a:alpha val="5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440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83080" y="413308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ระบบตรวจให้ทันที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5852160" y="413308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แจ้งเตือน (แดง) เมื่อซ้ำแถวแนวนอน/แนวตั้ง/ตารางย่อย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40080" y="5148072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1A234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14400" y="5312664"/>
            <a:ext cx="594360" cy="5943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16200000">
              <a:srgbClr val="22D3EE">
                <a:alpha val="5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14400" y="5312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783080" y="51937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กดส่งคำตอบ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5852160" y="519379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Auto Validation + จับเวลา + เก็บแต้มขึ้น Leaderboard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15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515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515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2591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2591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2591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2591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0023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0023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0023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0023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7455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7455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7455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7455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4887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4887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4887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4887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8231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8231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8231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8231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ELABORATE // 15 MIN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ท้าทายขึ้น: ตาราง 6×6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640080" y="1965960"/>
            <a:ext cx="4572000" cy="4160520"/>
          </a:xfrm>
          <a:prstGeom prst="roundRect">
            <a:avLst>
              <a:gd name="adj" fmla="val 1978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143000" y="2286000"/>
            <a:ext cx="576072" cy="576072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19072" y="2286000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19072" y="228600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890" dirty="0"/>
          </a:p>
        </p:txBody>
      </p:sp>
      <p:sp>
        <p:nvSpPr>
          <p:cNvPr id="32" name="Shape 30"/>
          <p:cNvSpPr/>
          <p:nvPr/>
        </p:nvSpPr>
        <p:spPr>
          <a:xfrm>
            <a:off x="2295144" y="2286000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1216" y="2286000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47288" y="2286000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0" y="2286000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43000" y="2862072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19072" y="2862072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95144" y="2862072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71216" y="2862072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71216" y="286207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1890" dirty="0"/>
          </a:p>
        </p:txBody>
      </p:sp>
      <p:sp>
        <p:nvSpPr>
          <p:cNvPr id="41" name="Shape 39"/>
          <p:cNvSpPr/>
          <p:nvPr/>
        </p:nvSpPr>
        <p:spPr>
          <a:xfrm>
            <a:off x="3447288" y="2862072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3360" y="2862072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43000" y="3438144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19072" y="3438144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95144" y="3438144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71216" y="3438144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47288" y="3438144"/>
            <a:ext cx="576072" cy="576072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0" y="3438144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43000" y="4014216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43000" y="4014216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890" dirty="0"/>
          </a:p>
        </p:txBody>
      </p:sp>
      <p:sp>
        <p:nvSpPr>
          <p:cNvPr id="51" name="Shape 49"/>
          <p:cNvSpPr/>
          <p:nvPr/>
        </p:nvSpPr>
        <p:spPr>
          <a:xfrm>
            <a:off x="1719072" y="4014216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95144" y="4014216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71216" y="4014216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47288" y="4014216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23360" y="4014216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43000" y="4590288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19072" y="4590288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95144" y="4590288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71216" y="4590288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47288" y="4590288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47288" y="4590288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890" dirty="0"/>
          </a:p>
        </p:txBody>
      </p:sp>
      <p:sp>
        <p:nvSpPr>
          <p:cNvPr id="62" name="Shape 60"/>
          <p:cNvSpPr/>
          <p:nvPr/>
        </p:nvSpPr>
        <p:spPr>
          <a:xfrm>
            <a:off x="4023360" y="4590288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3000" y="5166360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19072" y="5166360"/>
            <a:ext cx="576072" cy="576072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95144" y="5166360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71216" y="5166360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47288" y="5166360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023360" y="5166360"/>
            <a:ext cx="576072" cy="576072"/>
          </a:xfrm>
          <a:prstGeom prst="rect">
            <a:avLst/>
          </a:prstGeom>
          <a:solidFill>
            <a:srgbClr val="151C3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23360" y="516636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1890" dirty="0"/>
          </a:p>
        </p:txBody>
      </p:sp>
      <p:sp>
        <p:nvSpPr>
          <p:cNvPr id="70" name="Shape 68"/>
          <p:cNvSpPr/>
          <p:nvPr/>
        </p:nvSpPr>
        <p:spPr>
          <a:xfrm>
            <a:off x="1143000" y="2286000"/>
            <a:ext cx="345643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43000" y="3438144"/>
            <a:ext cx="345643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43000" y="4590288"/>
            <a:ext cx="345643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3000" y="5742432"/>
            <a:ext cx="345643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43000" y="2286000"/>
            <a:ext cx="0" cy="3456432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71216" y="2286000"/>
            <a:ext cx="0" cy="3456432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599432" y="2286000"/>
            <a:ext cx="0" cy="3456432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669280" y="1965960"/>
            <a:ext cx="5852160" cy="4160520"/>
          </a:xfrm>
          <a:prstGeom prst="roundRect">
            <a:avLst>
              <a:gd name="adj" fmla="val 1978"/>
            </a:avLst>
          </a:prstGeom>
          <a:solidFill>
            <a:srgbClr val="1A234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6035040" y="237744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ประยุกต์กลยุทธ์เดิมกับโจทย์ยากขึ้น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อธิบายเหตุผลของการเติมแต่ละช่องให้ครูฟังเป็นรายบุคคล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ปรับปรุงแก้ไขเอง (Debugging) เมื่อระบบแจ้งขัดเงื่อนไข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เล่นซ้ำได้ไม่จำกัด — มุ่งมั่นจนสำเร็จ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15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515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515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2591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2591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2591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2591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0023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0023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0023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0023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7455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7455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7455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7455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4887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4887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4887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4887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8231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8231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8231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8231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 // EXIT TICKET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วัดความรู้รายบุคคล (กระดานระดมความคิด)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640080" y="210312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0120" y="2377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60120" y="320040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จากตารางนี้ ควรเริ่มเติมช่องใดก่อน เพราะเหตุใด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343400" y="210312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63440" y="2377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663440" y="320040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อธิบายกติกาซูโดกุด้วยคำพูดของตนเอง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046720" y="210312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66760" y="2377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8366760" y="320040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ยกตัวอย่างการใช้เหตุผลเชิงตรรกะในชีวิตประจำวัน 1 สถานการณ์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0080" y="56692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ตั้งค่า “เห็นเฉพาะโพสต์ของตนเอง” — ตอบอิสระ ครูอ่านประเมินรายคน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15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515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515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515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2591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2591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2591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2591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0023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0023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0023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00023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27455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7455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7455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7455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4887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4887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4887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4887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823192" y="22860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823192" y="50292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823192" y="77724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823192" y="1051560"/>
            <a:ext cx="45720" cy="4572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สรุปท้ายชั่วโมง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640080" y="2011680"/>
            <a:ext cx="10908792" cy="1554480"/>
          </a:xfrm>
          <a:prstGeom prst="roundRect">
            <a:avLst>
              <a:gd name="adj" fmla="val 5294"/>
            </a:avLst>
          </a:prstGeom>
          <a:solidFill>
            <a:srgbClr val="141C33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05840" y="2194560"/>
            <a:ext cx="10177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ใช้เหตุผลเชิงตรรกะ = นำเงื่อนไขทุกกรณีมาพิจารณา หาคำตอบเดียว • เริ่มจากช่องที่ตัวเลือกน้อยสุด ช่วยให้เร็วและแม่นยำ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008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นำไปใช้ในชีวิตประจำวันได้ เช่น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40080" y="434340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A234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60120" y="4617720"/>
            <a:ext cx="457200" cy="4572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77800" dist="50800" dir="16200000">
              <a:srgbClr val="FBBF24">
                <a:alpha val="5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554480" y="4526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จัดลำดับงานบ้าน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60120" y="5212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พิจารณาเงื่อนไขเวลา &amp; ความสำคัญ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43400" y="434340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A234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4617720"/>
            <a:ext cx="457200" cy="45720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16200000">
              <a:srgbClr val="34D399">
                <a:alpha val="5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257800" y="4526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เลือกของเข้าค่าย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4663440" y="5212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ดูเงื่อนไขความจำเป็น &amp; น้ำหนัก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46720" y="434340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A234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366760" y="4617720"/>
            <a:ext cx="457200" cy="45720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77800" dist="50800" dir="16200000">
              <a:srgbClr val="3B82F6">
                <a:alpha val="5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961120" y="4526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ตัดสินใจพกร่ม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8366760" y="5212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พิจารณาจากสภาพอากาศ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ซูโดกุ ป.5</dc:title>
  <dc:subject>PptxGenJS Presentation</dc:subject>
  <dc:creator>FlowQuest</dc:creator>
  <cp:lastModifiedBy>FlowQuest</cp:lastModifiedBy>
  <cp:revision>1</cp:revision>
  <dcterms:created xsi:type="dcterms:W3CDTF">2026-07-07T01:52:11Z</dcterms:created>
  <dcterms:modified xsi:type="dcterms:W3CDTF">2026-07-07T01:52:11Z</dcterms:modified>
</cp:coreProperties>
</file>