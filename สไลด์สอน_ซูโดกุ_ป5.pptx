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6" r:id="rId6"/>
    <p:sldId id="260" r:id="rId7"/>
    <p:sldId id="261" r:id="rId8"/>
    <p:sldId id="262" r:id="rId9"/>
    <p:sldId id="263" r:id="rId10"/>
    <p:sldId id="264" r:id="rId11"/>
    <p:sldId id="267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891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เปิดคาบด้วยพลังงานเชิงบวก แนะนำเรื่องและเชื่อมโยงว่าวันนี้จะได้เล่นเกมซูโดกุเพื่อฝึกการใช้เหตุผลเชิงตรรกะ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แจ้งจุดประสงค์ทั้ง 3 ด้าน เน้นว่าปลายทางคือแก้ปริศนาได้เองอย่างมีเหตุผล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ให้เด็กช่วยกันตัดตัวเลือกทีละเงื่อนไข: A เฉลย 25 (÷5→ลงท้าย0/5, 21-40, คี่→25/35, ผลบวก7→25) จากนั้นลอง B เฉลยสามเหลี่ยมด้านเท่า แล้วสรุปคำว่า 'ใช้เหตุผลเชิงตรรกะ'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เชื่อมจากเกมทายเลข ไปสู่กติกาซูโดกุที่ต้องใช้เหตุผลเชิงพื้นที่/รูปแบบ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0F3B-9CE2-69CC-8893-B8936AD40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C8825-FBC0-1DD0-F524-0AB70F76A3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D2C0E-4420-B424-4632-6F6144A16B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เชื่อมจากเกมทายเลข ไปสู่กติกาซูโดกุที่ต้องใช้เหตุผลเชิงพื้นที่/รูปแบบ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EC8B1-43EA-71B5-0A68-10BB176157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7779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ชี้ให้เห็นทั้ง 3 เงื่อนไข ระบบ FlowQuest จะไฮไลต์แดงเมื่อเติมซ้ำในเงื่อนไขใดเงื่อนไขหนึ่ง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ให้เด็กสังเกตว่าแถวบนเหลือช่องเดียว จึงเติมได้ทันทีอย่างมั่นใจ ต่างจากการเดาช่องที่มีตัวเลือกเยอะ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อธิบายขั้นตอนสั้น ๆ แล้วปล่อยให้เด็กสำรวจกติกาด้วยตนเองผ่าน Instant Feedback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ครูเดินซักถามรายคน ใช้ช่วงนี้ประเมิน P2 (การให้เหตุผล + การแก้จุดบกพร่อง)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ให้เด็กทุกคนพิมพ์คำตอบของตนเอง เป็นหลักฐานวัด K รายบุคคล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B8C1-3B0D-865A-CAD1-6E6E05915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A9B83-1F1E-6EE1-1B58-FD2C65DB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41C1F6-DD4A-97FE-E1E6-0E6ACB4A9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ให้เด็กทุกคนพิมพ์คำตอบของตนเอง เป็นหลักฐานวัด K รายบุคคล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5E45A-3D1F-2565-BFBD-7EB3AE2591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0609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ย้ำมโนทัศน์หลักและให้เด็กเห็นว่าตรรกะใช้ได้ทุกเรื่องรอบตัว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วิทยาการคำนวณ ป.5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การใช้เหตุผลเชิงตรรกะ</a:t>
            </a:r>
            <a:endParaRPr lang="en-US" sz="5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แก้ปัญหาด้วยเกม</a:t>
            </a:r>
            <a:r>
              <a:rPr lang="en-US" sz="5000" b="1" dirty="0">
                <a:solidFill>
                  <a:srgbClr val="22D3E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ซูโดกุ</a:t>
            </a:r>
            <a:endParaRPr lang="en-US" sz="5000" dirty="0"/>
          </a:p>
        </p:txBody>
      </p:sp>
      <p:sp>
        <p:nvSpPr>
          <p:cNvPr id="28" name="Text 26"/>
          <p:cNvSpPr/>
          <p:nvPr/>
        </p:nvSpPr>
        <p:spPr>
          <a:xfrm>
            <a:off x="640080" y="3794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สัญลักษณ์ตาราง 4×4 → 6×6 • เรียนรู้เชิงรุก (Active Learning) ผ่านระบบ FlowQuest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40080" y="5669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ครูผู้สอน  นายภาณุพงษ์ ดอนกระโทก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โรงเรียนโชคชัยพรหมบุตรบริหาร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229600" y="1371600"/>
            <a:ext cx="3200400" cy="3840480"/>
          </a:xfrm>
          <a:prstGeom prst="roundRect">
            <a:avLst>
              <a:gd name="adj" fmla="val 2571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549640" y="1828800"/>
            <a:ext cx="640080" cy="640080"/>
          </a:xfrm>
          <a:prstGeom prst="rect">
            <a:avLst/>
          </a:prstGeom>
          <a:solidFill>
            <a:srgbClr val="22D3EE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49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9189720" y="182880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29800" y="182880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69880" y="182880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698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2100" dirty="0"/>
          </a:p>
        </p:txBody>
      </p:sp>
      <p:sp>
        <p:nvSpPr>
          <p:cNvPr id="37" name="Shape 35"/>
          <p:cNvSpPr/>
          <p:nvPr/>
        </p:nvSpPr>
        <p:spPr>
          <a:xfrm>
            <a:off x="8549640" y="246888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89720" y="246888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897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2100" dirty="0"/>
          </a:p>
        </p:txBody>
      </p:sp>
      <p:sp>
        <p:nvSpPr>
          <p:cNvPr id="40" name="Shape 38"/>
          <p:cNvSpPr/>
          <p:nvPr/>
        </p:nvSpPr>
        <p:spPr>
          <a:xfrm>
            <a:off x="9829800" y="2468880"/>
            <a:ext cx="640080" cy="640080"/>
          </a:xfrm>
          <a:prstGeom prst="rect">
            <a:avLst/>
          </a:prstGeom>
          <a:solidFill>
            <a:srgbClr val="3B82F6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469880" y="246888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549640" y="310896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89720" y="310896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29800" y="310896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82980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2100" dirty="0"/>
          </a:p>
        </p:txBody>
      </p:sp>
      <p:sp>
        <p:nvSpPr>
          <p:cNvPr id="46" name="Shape 44"/>
          <p:cNvSpPr/>
          <p:nvPr/>
        </p:nvSpPr>
        <p:spPr>
          <a:xfrm>
            <a:off x="10469880" y="310896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549640" y="374904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49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2100" dirty="0"/>
          </a:p>
        </p:txBody>
      </p:sp>
      <p:sp>
        <p:nvSpPr>
          <p:cNvPr id="49" name="Shape 47"/>
          <p:cNvSpPr/>
          <p:nvPr/>
        </p:nvSpPr>
        <p:spPr>
          <a:xfrm>
            <a:off x="9189720" y="374904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829800" y="3749040"/>
            <a:ext cx="640080" cy="640080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469880" y="3749040"/>
            <a:ext cx="640080" cy="640080"/>
          </a:xfrm>
          <a:prstGeom prst="rect">
            <a:avLst/>
          </a:prstGeom>
          <a:solidFill>
            <a:srgbClr val="34D399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46988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2100" dirty="0"/>
          </a:p>
        </p:txBody>
      </p:sp>
      <p:sp>
        <p:nvSpPr>
          <p:cNvPr id="53" name="Shape 51"/>
          <p:cNvSpPr/>
          <p:nvPr/>
        </p:nvSpPr>
        <p:spPr>
          <a:xfrm>
            <a:off x="8549640" y="1828800"/>
            <a:ext cx="256032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49640" y="3108960"/>
            <a:ext cx="256032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549640" y="4389120"/>
            <a:ext cx="2560320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549640" y="1828800"/>
            <a:ext cx="0" cy="256032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829800" y="1828800"/>
            <a:ext cx="0" cy="256032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109960" y="1828800"/>
            <a:ext cx="0" cy="256032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229600" y="5349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ว 4.2 ป.5/1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OBJECTIVES // K-P-A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จุดประสงค์การเรียนรู้</a:t>
            </a:r>
            <a:endParaRPr lang="en-US" sz="3400" dirty="0"/>
          </a:p>
        </p:txBody>
      </p:sp>
      <p:sp>
        <p:nvSpPr>
          <p:cNvPr id="28" name="Shape 26"/>
          <p:cNvSpPr/>
          <p:nvPr/>
        </p:nvSpPr>
        <p:spPr>
          <a:xfrm>
            <a:off x="640080" y="1920240"/>
            <a:ext cx="3429000" cy="3840480"/>
          </a:xfrm>
          <a:prstGeom prst="roundRect">
            <a:avLst>
              <a:gd name="adj" fmla="val 24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60120" y="2286000"/>
            <a:ext cx="868680" cy="868680"/>
          </a:xfrm>
          <a:prstGeom prst="ellipse">
            <a:avLst/>
          </a:prstGeom>
          <a:solidFill>
            <a:srgbClr val="22D3EE"/>
          </a:solidFill>
          <a:ln/>
          <a:effectLst>
            <a:outerShdw blurRad="177800" dist="50800" dir="16200000" algn="bl" rotWithShape="0">
              <a:srgbClr val="22D3EE">
                <a:alpha val="5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60120" y="2286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965960" y="2331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ความรู้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60120" y="3429000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อธิบายหลักการใช้เหตุผลเชิงตรรกะ (นำเงื่อนไขที่ครอบคลุมทุกกรณีมาพิจารณา) และกติกาซูโดกุได้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343400" y="1920240"/>
            <a:ext cx="3429000" cy="3840480"/>
          </a:xfrm>
          <a:prstGeom prst="roundRect">
            <a:avLst>
              <a:gd name="adj" fmla="val 24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286000"/>
            <a:ext cx="868680" cy="868680"/>
          </a:xfrm>
          <a:prstGeom prst="ellipse">
            <a:avLst/>
          </a:prstGeom>
          <a:solidFill>
            <a:srgbClr val="3B82F6"/>
          </a:solidFill>
          <a:ln/>
          <a:effectLst>
            <a:outerShdw blurRad="177800" dist="50800" dir="16200000" algn="bl" rotWithShape="0">
              <a:srgbClr val="3B82F6">
                <a:alpha val="5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663440" y="2286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669280" y="2331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ทักษะ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663440" y="3429000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แก้ปริศนาซูโดกุโดยใช้เหตุผลเชิงตรรกะ และวางกลยุทธ์เริ่มจากช่องที่ตัวเลือกน้อยที่สุด ผ่าน FlowQuest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8046720" y="1920240"/>
            <a:ext cx="3429000" cy="3840480"/>
          </a:xfrm>
          <a:prstGeom prst="roundRect">
            <a:avLst>
              <a:gd name="adj" fmla="val 24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366760" y="2286000"/>
            <a:ext cx="868680" cy="868680"/>
          </a:xfrm>
          <a:prstGeom prst="ellipse">
            <a:avLst/>
          </a:prstGeom>
          <a:solidFill>
            <a:srgbClr val="34D399"/>
          </a:solidFill>
          <a:ln/>
          <a:effectLst>
            <a:outerShdw blurRad="177800" dist="50800" dir="16200000" algn="bl" rotWithShape="0">
              <a:srgbClr val="34D399">
                <a:alpha val="5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366760" y="2286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9372600" y="2331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4D39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เจตคติ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8366760" y="3429000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มุ่งมั่น ซื่อสัตย์ต่อตนเอง กล้าลองผิดลองถูก และตรวจแก้ข้อผิดพลาดด้วยตนเองจนสำเร็จ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ENGAGE // 10 MIN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ขั้นนำ: เกมทายจากเงื่อนไข</a:t>
            </a:r>
            <a:endParaRPr lang="en-US" sz="3400" dirty="0"/>
          </a:p>
        </p:txBody>
      </p:sp>
      <p:sp>
        <p:nvSpPr>
          <p:cNvPr id="28" name="Shape 26"/>
          <p:cNvSpPr/>
          <p:nvPr/>
        </p:nvSpPr>
        <p:spPr>
          <a:xfrm>
            <a:off x="640080" y="1920240"/>
            <a:ext cx="6400800" cy="4206240"/>
          </a:xfrm>
          <a:prstGeom prst="roundRect">
            <a:avLst>
              <a:gd name="adj" fmla="val 1957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05840" y="2148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A — ทายจำนวน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05840" y="5257800"/>
            <a:ext cx="640080" cy="640080"/>
          </a:xfrm>
          <a:prstGeom prst="ellipse">
            <a:avLst/>
          </a:prstGeom>
          <a:solidFill>
            <a:srgbClr val="34D399"/>
          </a:solidFill>
          <a:ln/>
          <a:effectLst>
            <a:outerShdw blurRad="177800" dist="50800" dir="16200000" algn="bl" rotWithShape="0">
              <a:srgbClr val="34D399">
                <a:alpha val="5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05840" y="5257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=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783080" y="5257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4D39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คำตอบคือ 25</a:t>
            </a:r>
            <a:endParaRPr lang="en-US" sz="2300" dirty="0"/>
          </a:p>
        </p:txBody>
      </p:sp>
      <p:sp>
        <p:nvSpPr>
          <p:cNvPr id="34" name="Shape 32"/>
          <p:cNvSpPr/>
          <p:nvPr/>
        </p:nvSpPr>
        <p:spPr>
          <a:xfrm>
            <a:off x="7223760" y="1920240"/>
            <a:ext cx="4297680" cy="2331720"/>
          </a:xfrm>
          <a:prstGeom prst="roundRect">
            <a:avLst>
              <a:gd name="adj" fmla="val 3529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498080" y="2103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BBF24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B — ทายรูปสัญลักษณ์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498080" y="260604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รูปเรขาคณิต • ด้านตรงทุกด้าน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มุมน้อยกว่า 4 มุม • ด้านเท่ากันทุกด้าน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 ฉันคือรูปอะไร ?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498080" y="3703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4D39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คำตอบ: สามเหลี่ยมด้านเท่า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7223760" y="4434840"/>
            <a:ext cx="4297680" cy="1691640"/>
          </a:xfrm>
          <a:prstGeom prst="roundRect">
            <a:avLst>
              <a:gd name="adj" fmla="val 4865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0" y="4617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498080" y="50292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พิจารณาเงื่อนไขทีละข้ออย่างครอบคลุม จนเหลือคำตอบเพียงหนึ่งเดียว = การใช้เหตุผลเชิงตรรกะ</a:t>
            </a:r>
            <a:endParaRPr lang="en-US" sz="1700" dirty="0"/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625BBC98-458A-73CD-FC4B-FE30842AA60B}"/>
              </a:ext>
            </a:extLst>
          </p:cNvPr>
          <p:cNvSpPr/>
          <p:nvPr/>
        </p:nvSpPr>
        <p:spPr>
          <a:xfrm>
            <a:off x="1005840" y="2506894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8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ฉันเป็นเลขสองหลัก</a:t>
            </a:r>
            <a:endParaRPr lang="en-US" sz="1800" dirty="0"/>
          </a:p>
        </p:txBody>
      </p:sp>
      <p:sp>
        <p:nvSpPr>
          <p:cNvPr id="42" name="Text 28">
            <a:extLst>
              <a:ext uri="{FF2B5EF4-FFF2-40B4-BE49-F238E27FC236}">
                <a16:creationId xmlns:a16="http://schemas.microsoft.com/office/drawing/2014/main" id="{8DD227BF-55EA-976B-E29B-6BF2097CBC03}"/>
              </a:ext>
            </a:extLst>
          </p:cNvPr>
          <p:cNvSpPr/>
          <p:nvPr/>
        </p:nvSpPr>
        <p:spPr>
          <a:xfrm>
            <a:off x="1005840" y="291837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8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ฉันหารด้วย</a:t>
            </a:r>
            <a:r>
              <a:rPr lang="en-US" sz="18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</a:t>
            </a:r>
            <a:r>
              <a:rPr lang="en-US" sz="18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ลงตัว</a:t>
            </a:r>
            <a:endParaRPr lang="en-US" sz="1800" dirty="0"/>
          </a:p>
        </p:txBody>
      </p:sp>
      <p:sp>
        <p:nvSpPr>
          <p:cNvPr id="43" name="Text 28">
            <a:extLst>
              <a:ext uri="{FF2B5EF4-FFF2-40B4-BE49-F238E27FC236}">
                <a16:creationId xmlns:a16="http://schemas.microsoft.com/office/drawing/2014/main" id="{0E81FA0D-5B99-1E99-8958-973F8721932F}"/>
              </a:ext>
            </a:extLst>
          </p:cNvPr>
          <p:cNvSpPr/>
          <p:nvPr/>
        </p:nvSpPr>
        <p:spPr>
          <a:xfrm>
            <a:off x="1005840" y="324868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ฉันมากกว่า 20 </a:t>
            </a:r>
            <a:r>
              <a:rPr lang="en-US" sz="18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แต่ไม่เกิน</a:t>
            </a:r>
            <a:r>
              <a:rPr lang="en-US" sz="18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40</a:t>
            </a:r>
            <a:endParaRPr lang="en-US" sz="1800" dirty="0"/>
          </a:p>
        </p:txBody>
      </p:sp>
      <p:sp>
        <p:nvSpPr>
          <p:cNvPr id="44" name="Text 28">
            <a:extLst>
              <a:ext uri="{FF2B5EF4-FFF2-40B4-BE49-F238E27FC236}">
                <a16:creationId xmlns:a16="http://schemas.microsoft.com/office/drawing/2014/main" id="{83952024-F5D6-E6F5-EA8B-7E27530C6592}"/>
              </a:ext>
            </a:extLst>
          </p:cNvPr>
          <p:cNvSpPr/>
          <p:nvPr/>
        </p:nvSpPr>
        <p:spPr>
          <a:xfrm>
            <a:off x="1005840" y="3761625"/>
            <a:ext cx="5669280" cy="501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800" dirty="0" err="1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ฉันเป็นจำนวนคี่</a:t>
            </a:r>
            <a:endParaRPr lang="en-US" sz="1800" dirty="0"/>
          </a:p>
        </p:txBody>
      </p:sp>
      <p:sp>
        <p:nvSpPr>
          <p:cNvPr id="45" name="Text 28">
            <a:extLst>
              <a:ext uri="{FF2B5EF4-FFF2-40B4-BE49-F238E27FC236}">
                <a16:creationId xmlns:a16="http://schemas.microsoft.com/office/drawing/2014/main" id="{B73E96F8-0326-D9CF-D665-EEA679334367}"/>
              </a:ext>
            </a:extLst>
          </p:cNvPr>
          <p:cNvSpPr/>
          <p:nvPr/>
        </p:nvSpPr>
        <p:spPr>
          <a:xfrm>
            <a:off x="1005840" y="4168996"/>
            <a:ext cx="5669280" cy="491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ผลบวกของเลขสองหลัก = 7</a:t>
            </a:r>
            <a:endParaRPr lang="en-US" sz="1800" dirty="0"/>
          </a:p>
        </p:txBody>
      </p:sp>
      <p:sp>
        <p:nvSpPr>
          <p:cNvPr id="46" name="Text 28">
            <a:extLst>
              <a:ext uri="{FF2B5EF4-FFF2-40B4-BE49-F238E27FC236}">
                <a16:creationId xmlns:a16="http://schemas.microsoft.com/office/drawing/2014/main" id="{B245B907-7332-516A-E074-285E456C1843}"/>
              </a:ext>
            </a:extLst>
          </p:cNvPr>
          <p:cNvSpPr/>
          <p:nvPr/>
        </p:nvSpPr>
        <p:spPr>
          <a:xfrm>
            <a:off x="1005840" y="4635828"/>
            <a:ext cx="5669280" cy="40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ฉันคือเลขใด ?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6" grpId="0" animBg="1"/>
      <p:bldP spid="37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การใช้เหตุผลเชิงตรรกะ คืออะไร</a:t>
            </a:r>
            <a:endParaRPr lang="en-US" sz="3400" dirty="0"/>
          </a:p>
        </p:txBody>
      </p:sp>
      <p:sp>
        <p:nvSpPr>
          <p:cNvPr id="28" name="Shape 26"/>
          <p:cNvSpPr/>
          <p:nvPr/>
        </p:nvSpPr>
        <p:spPr>
          <a:xfrm>
            <a:off x="640080" y="2011680"/>
            <a:ext cx="10908792" cy="1737360"/>
          </a:xfrm>
          <a:prstGeom prst="roundRect">
            <a:avLst>
              <a:gd name="adj" fmla="val 4737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05840" y="2240280"/>
            <a:ext cx="10177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th-TH" sz="2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</a:t>
            </a:r>
            <a:r>
              <a:rPr lang="en-US" sz="2700" dirty="0" err="1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นำ</a:t>
            </a:r>
            <a:r>
              <a:rPr lang="en-US" sz="2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</a:t>
            </a:r>
            <a:r>
              <a:rPr lang="th-TH" sz="2700" b="1" dirty="0">
                <a:solidFill>
                  <a:srgbClr val="22D3E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กฎเกณฑ์ หรือ</a:t>
            </a:r>
            <a:r>
              <a:rPr lang="en-US" sz="2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</a:t>
            </a:r>
            <a:r>
              <a:rPr lang="en-US" sz="2700" b="1" dirty="0" err="1">
                <a:solidFill>
                  <a:srgbClr val="22D3E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เงื่อนไขที่ครอบคลุมทุกกรณี</a:t>
            </a:r>
            <a:r>
              <a:rPr lang="th-TH" sz="2700" b="1" dirty="0">
                <a:solidFill>
                  <a:srgbClr val="22D3E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</a:t>
            </a:r>
            <a:r>
              <a:rPr lang="en-US" sz="2700" dirty="0" err="1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มาพิจารณา</a:t>
            </a:r>
            <a:r>
              <a:rPr lang="en-US" sz="2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</a:t>
            </a:r>
            <a:r>
              <a:rPr lang="en-US" sz="2700" dirty="0" err="1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เพื่อหา</a:t>
            </a:r>
            <a:r>
              <a:rPr lang="en-US" sz="2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</a:t>
            </a:r>
            <a:r>
              <a:rPr lang="en-US" sz="2700" b="1" dirty="0" err="1">
                <a:solidFill>
                  <a:srgbClr val="34D39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คำตอบ</a:t>
            </a:r>
            <a:r>
              <a:rPr lang="th-TH" sz="2700" b="1" dirty="0">
                <a:solidFill>
                  <a:srgbClr val="34D39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หรือการคาดการณ์ผลลัพธ์</a:t>
            </a:r>
            <a:endParaRPr lang="en-US" sz="2700" dirty="0"/>
          </a:p>
        </p:txBody>
      </p:sp>
      <p:sp>
        <p:nvSpPr>
          <p:cNvPr id="30" name="Shape 28"/>
          <p:cNvSpPr/>
          <p:nvPr/>
        </p:nvSpPr>
        <p:spPr>
          <a:xfrm>
            <a:off x="640080" y="4114800"/>
            <a:ext cx="3429000" cy="2011680"/>
          </a:xfrm>
          <a:prstGeom prst="roundRect">
            <a:avLst>
              <a:gd name="adj" fmla="val 4091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60120" y="4343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960120" y="50749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พิจารณาอย่างเป็นขั้นตอน มีเหตุผลรองรับ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4343400" y="4114800"/>
            <a:ext cx="3429000" cy="2011680"/>
          </a:xfrm>
          <a:prstGeom prst="roundRect">
            <a:avLst>
              <a:gd name="adj" fmla="val 4091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663440" y="4343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4663440" y="50749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คาดการณ์ผลลัพธ์จากเงื่อนไขได้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8046720" y="4114800"/>
            <a:ext cx="3429000" cy="2011680"/>
          </a:xfrm>
          <a:prstGeom prst="roundRect">
            <a:avLst>
              <a:gd name="adj" fmla="val 4091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366760" y="4343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8366760" y="50749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เป็นพื้นฐานของการคิดเชิงคำนวณ (CT)</a:t>
            </a:r>
            <a:endParaRPr lang="en-US" sz="1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4F3140-B5FF-AE02-D967-615B38D59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CBD2607-1C33-97B8-275C-B3101FECE056}"/>
              </a:ext>
            </a:extLst>
          </p:cNvPr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8E440D-EB07-E8F6-DFC2-355E66C74D51}"/>
              </a:ext>
            </a:extLst>
          </p:cNvPr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62E18F-B1E2-54D6-9C6D-2297685D8AE0}"/>
              </a:ext>
            </a:extLst>
          </p:cNvPr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8D462AD-969D-BB3C-9CB9-392FE3159727}"/>
              </a:ext>
            </a:extLst>
          </p:cNvPr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7F32FE6-C64B-D742-10FD-597891D8A6BD}"/>
              </a:ext>
            </a:extLst>
          </p:cNvPr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2CE817D-1F12-83F9-DB22-6B5AB6723C53}"/>
              </a:ext>
            </a:extLst>
          </p:cNvPr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816717A-0250-3B7A-8CA4-93377EAB613C}"/>
              </a:ext>
            </a:extLst>
          </p:cNvPr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8C71F95-84EF-BAAB-2911-83A06838901A}"/>
              </a:ext>
            </a:extLst>
          </p:cNvPr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6EE7AF9-0BFA-A909-4763-2206AA6CB3D7}"/>
              </a:ext>
            </a:extLst>
          </p:cNvPr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84CFF7C-4548-CE71-D494-0FDCFFDD2209}"/>
              </a:ext>
            </a:extLst>
          </p:cNvPr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AC90955-D815-DFBE-809F-C617C6B3D6CC}"/>
              </a:ext>
            </a:extLst>
          </p:cNvPr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20DDB8E-8083-40F6-6658-10ACEA7E47B4}"/>
              </a:ext>
            </a:extLst>
          </p:cNvPr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FC150C7-BF63-89A6-2E26-54BE0A9A80E9}"/>
              </a:ext>
            </a:extLst>
          </p:cNvPr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9A73A21-7088-14D1-F69D-50444108DEAA}"/>
              </a:ext>
            </a:extLst>
          </p:cNvPr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53A84D3-AECB-1529-36C6-02932B6246D8}"/>
              </a:ext>
            </a:extLst>
          </p:cNvPr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EF3D586-FBF5-ED5F-02C5-E296A4AA71DB}"/>
              </a:ext>
            </a:extLst>
          </p:cNvPr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4AFEFD09-F8E9-03E9-E24B-BD8CA2AA58E1}"/>
              </a:ext>
            </a:extLst>
          </p:cNvPr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6C741F92-1921-A0D2-736D-2507DD980EAB}"/>
              </a:ext>
            </a:extLst>
          </p:cNvPr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142E4EE-B202-64A1-38C9-F07838A06ED3}"/>
              </a:ext>
            </a:extLst>
          </p:cNvPr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B53C49E9-0963-DAB0-35C4-70BBFB4CAA1C}"/>
              </a:ext>
            </a:extLst>
          </p:cNvPr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52D5660F-48AB-A7A2-C30A-455997B97C21}"/>
              </a:ext>
            </a:extLst>
          </p:cNvPr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950F59B6-4EF0-B900-B50D-8CA3D8899EDF}"/>
              </a:ext>
            </a:extLst>
          </p:cNvPr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C2E0A55-BD44-9C96-C302-C73C937B6682}"/>
              </a:ext>
            </a:extLst>
          </p:cNvPr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5356DB56-C041-D51F-E905-5FAA239603EA}"/>
              </a:ext>
            </a:extLst>
          </p:cNvPr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BD74CD3F-BA82-D839-A024-88D9823ADC3C}"/>
              </a:ext>
            </a:extLst>
          </p:cNvPr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Explore //</a:t>
            </a:r>
            <a:r>
              <a:rPr lang="th-TH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15 </a:t>
            </a: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endParaRPr lang="en-US" sz="13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B8F4C28-55A9-22E6-D2FD-D035769DD177}"/>
              </a:ext>
            </a:extLst>
          </p:cNvPr>
          <p:cNvSpPr/>
          <p:nvPr/>
        </p:nvSpPr>
        <p:spPr>
          <a:xfrm>
            <a:off x="640080" y="4709160"/>
            <a:ext cx="10908792" cy="1737360"/>
          </a:xfrm>
          <a:prstGeom prst="roundRect">
            <a:avLst>
              <a:gd name="adj" fmla="val 4737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1FA2B979-EEFD-82C9-AEA2-B23FAB371519}"/>
              </a:ext>
            </a:extLst>
          </p:cNvPr>
          <p:cNvSpPr/>
          <p:nvPr/>
        </p:nvSpPr>
        <p:spPr>
          <a:xfrm>
            <a:off x="1005840" y="4937760"/>
            <a:ext cx="10177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th-TH" sz="2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นักเรียนเข้าสู่ระบบ </a:t>
            </a:r>
            <a:r>
              <a:rPr lang="en-US" sz="2700" dirty="0" err="1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FlowQuest</a:t>
            </a:r>
            <a:r>
              <a:rPr lang="en-US" sz="2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</a:t>
            </a:r>
            <a:r>
              <a:rPr lang="th-TH" sz="2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โดยใช้เครื่องคอมพิวเตอร์เป็นรายบุคคล (คนละ 1 เครื่อง) เข้าทำภารกิจ ด่าน</a:t>
            </a:r>
            <a:r>
              <a:rPr lang="th-TH" sz="2700" dirty="0" err="1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ซูโ</a:t>
            </a:r>
            <a:r>
              <a:rPr lang="th-TH" sz="2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ดก</a:t>
            </a:r>
            <a:r>
              <a:rPr lang="th-TH" sz="2700" dirty="0" err="1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ุสัญ</a:t>
            </a:r>
            <a:r>
              <a:rPr lang="th-TH" sz="27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ลักษณ์ตาราง 4×4 ระดับเริ่มต้น แล้วทดลองเติมสัญลักษณ์ (วงกลม สี่เหลี่ยม สามเหลี่ยม ดาว) ด้วยตนเอง</a:t>
            </a:r>
            <a:endParaRPr lang="en-US" sz="27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F36E0428-94AA-66FF-B952-BCA0AA5AF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08" y="1005840"/>
            <a:ext cx="2032000" cy="6985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FB5289F-0A1E-76BF-FDB8-73C538EF85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6656" y="1413691"/>
            <a:ext cx="4408624" cy="306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5425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กติกาซูโดกุ: ห้ามซ้ำใน 3 เงื่อนไข</a:t>
            </a:r>
            <a:endParaRPr lang="en-US" sz="3400" dirty="0"/>
          </a:p>
        </p:txBody>
      </p:sp>
      <p:sp>
        <p:nvSpPr>
          <p:cNvPr id="28" name="Shape 26"/>
          <p:cNvSpPr/>
          <p:nvPr/>
        </p:nvSpPr>
        <p:spPr>
          <a:xfrm>
            <a:off x="640080" y="1965960"/>
            <a:ext cx="3429000" cy="4160520"/>
          </a:xfrm>
          <a:prstGeom prst="roundRect">
            <a:avLst>
              <a:gd name="adj" fmla="val 24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325880" y="2331720"/>
            <a:ext cx="512064" cy="512064"/>
          </a:xfrm>
          <a:prstGeom prst="rect">
            <a:avLst/>
          </a:prstGeom>
          <a:solidFill>
            <a:srgbClr val="22D3EE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37944" y="2331720"/>
            <a:ext cx="512064" cy="512064"/>
          </a:xfrm>
          <a:prstGeom prst="rect">
            <a:avLst/>
          </a:prstGeom>
          <a:solidFill>
            <a:srgbClr val="22D3EE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0008" y="2331720"/>
            <a:ext cx="512064" cy="512064"/>
          </a:xfrm>
          <a:prstGeom prst="rect">
            <a:avLst/>
          </a:prstGeom>
          <a:solidFill>
            <a:srgbClr val="22D3EE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62072" y="2331720"/>
            <a:ext cx="512064" cy="512064"/>
          </a:xfrm>
          <a:prstGeom prst="rect">
            <a:avLst/>
          </a:prstGeom>
          <a:solidFill>
            <a:srgbClr val="22D3EE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5880" y="2843784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37944" y="2843784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0008" y="2843784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62072" y="2843784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25880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37944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0008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62072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25880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837944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0008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862072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25880" y="2331720"/>
            <a:ext cx="204825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25880" y="3355848"/>
            <a:ext cx="204825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25880" y="4379976"/>
            <a:ext cx="204825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325880" y="2331720"/>
            <a:ext cx="0" cy="2048256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50008" y="2331720"/>
            <a:ext cx="0" cy="2048256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74136" y="2331720"/>
            <a:ext cx="0" cy="2048256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60120" y="5394960"/>
            <a:ext cx="502920" cy="502920"/>
          </a:xfrm>
          <a:prstGeom prst="ellipse">
            <a:avLst/>
          </a:prstGeom>
          <a:solidFill>
            <a:srgbClr val="22D3EE"/>
          </a:solidFill>
          <a:ln/>
          <a:effectLst>
            <a:outerShdw blurRad="177800" dist="50800" dir="16200000" algn="bl" rotWithShape="0">
              <a:srgbClr val="22D3EE">
                <a:alpha val="5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60120" y="5394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600200" y="5394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แถวแนวนอน</a:t>
            </a:r>
            <a:endParaRPr lang="en-US" sz="2200" dirty="0"/>
          </a:p>
        </p:txBody>
      </p:sp>
      <p:sp>
        <p:nvSpPr>
          <p:cNvPr id="54" name="Shape 52"/>
          <p:cNvSpPr/>
          <p:nvPr/>
        </p:nvSpPr>
        <p:spPr>
          <a:xfrm>
            <a:off x="4343400" y="1965960"/>
            <a:ext cx="3429000" cy="4160520"/>
          </a:xfrm>
          <a:prstGeom prst="roundRect">
            <a:avLst>
              <a:gd name="adj" fmla="val 24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5029200" y="2331720"/>
            <a:ext cx="512064" cy="512064"/>
          </a:xfrm>
          <a:prstGeom prst="rect">
            <a:avLst/>
          </a:prstGeom>
          <a:solidFill>
            <a:srgbClr val="3B82F6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41264" y="2331720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53328" y="2331720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65392" y="2331720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029200" y="2843784"/>
            <a:ext cx="512064" cy="512064"/>
          </a:xfrm>
          <a:prstGeom prst="rect">
            <a:avLst/>
          </a:prstGeom>
          <a:solidFill>
            <a:srgbClr val="3B82F6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541264" y="2843784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53328" y="2843784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65392" y="2843784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029200" y="3355848"/>
            <a:ext cx="512064" cy="512064"/>
          </a:xfrm>
          <a:prstGeom prst="rect">
            <a:avLst/>
          </a:prstGeom>
          <a:solidFill>
            <a:srgbClr val="3B82F6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541264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053328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565392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29200" y="3867912"/>
            <a:ext cx="512064" cy="512064"/>
          </a:xfrm>
          <a:prstGeom prst="rect">
            <a:avLst/>
          </a:prstGeom>
          <a:solidFill>
            <a:srgbClr val="3B82F6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541264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053328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565392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029200" y="2331720"/>
            <a:ext cx="204825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029200" y="3355848"/>
            <a:ext cx="204825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029200" y="4379976"/>
            <a:ext cx="204825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029200" y="2331720"/>
            <a:ext cx="0" cy="2048256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53328" y="2331720"/>
            <a:ext cx="0" cy="2048256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077456" y="2331720"/>
            <a:ext cx="0" cy="2048256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63440" y="5394960"/>
            <a:ext cx="502920" cy="502920"/>
          </a:xfrm>
          <a:prstGeom prst="ellipse">
            <a:avLst/>
          </a:prstGeom>
          <a:solidFill>
            <a:srgbClr val="3B82F6"/>
          </a:solidFill>
          <a:ln/>
          <a:effectLst>
            <a:outerShdw blurRad="177800" dist="50800" dir="16200000" algn="bl" rotWithShape="0">
              <a:srgbClr val="3B82F6">
                <a:alpha val="50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4663440" y="5394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</a:t>
            </a:r>
            <a:endParaRPr lang="en-US" sz="2200" dirty="0"/>
          </a:p>
        </p:txBody>
      </p:sp>
      <p:sp>
        <p:nvSpPr>
          <p:cNvPr id="79" name="Text 77"/>
          <p:cNvSpPr/>
          <p:nvPr/>
        </p:nvSpPr>
        <p:spPr>
          <a:xfrm>
            <a:off x="5303520" y="5394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แถวแนวตั้ง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046720" y="1965960"/>
            <a:ext cx="3429000" cy="4160520"/>
          </a:xfrm>
          <a:prstGeom prst="roundRect">
            <a:avLst>
              <a:gd name="adj" fmla="val 24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8732520" y="2331720"/>
            <a:ext cx="512064" cy="512064"/>
          </a:xfrm>
          <a:prstGeom prst="rect">
            <a:avLst/>
          </a:prstGeom>
          <a:solidFill>
            <a:srgbClr val="34D399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44584" y="2331720"/>
            <a:ext cx="512064" cy="512064"/>
          </a:xfrm>
          <a:prstGeom prst="rect">
            <a:avLst/>
          </a:prstGeom>
          <a:solidFill>
            <a:srgbClr val="34D399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756648" y="2331720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268712" y="2331720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732520" y="2843784"/>
            <a:ext cx="512064" cy="512064"/>
          </a:xfrm>
          <a:prstGeom prst="rect">
            <a:avLst/>
          </a:prstGeom>
          <a:solidFill>
            <a:srgbClr val="34D399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244584" y="2843784"/>
            <a:ext cx="512064" cy="512064"/>
          </a:xfrm>
          <a:prstGeom prst="rect">
            <a:avLst/>
          </a:prstGeom>
          <a:solidFill>
            <a:srgbClr val="34D399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756648" y="2843784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268712" y="2843784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732520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44584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756648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268712" y="3355848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32520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44584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756648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268712" y="3867912"/>
            <a:ext cx="512064" cy="512064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732520" y="2331720"/>
            <a:ext cx="204825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732520" y="3355848"/>
            <a:ext cx="204825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732520" y="4379976"/>
            <a:ext cx="2048256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732520" y="2331720"/>
            <a:ext cx="0" cy="2048256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756648" y="2331720"/>
            <a:ext cx="0" cy="2048256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780776" y="2331720"/>
            <a:ext cx="0" cy="2048256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366760" y="5394960"/>
            <a:ext cx="502920" cy="502920"/>
          </a:xfrm>
          <a:prstGeom prst="ellipse">
            <a:avLst/>
          </a:prstGeom>
          <a:solidFill>
            <a:srgbClr val="34D399"/>
          </a:solidFill>
          <a:ln/>
          <a:effectLst>
            <a:outerShdw blurRad="177800" dist="50800" dir="16200000" algn="bl" rotWithShape="0">
              <a:srgbClr val="34D399">
                <a:alpha val="50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8366760" y="5394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</a:t>
            </a:r>
            <a:endParaRPr lang="en-US" sz="2200" dirty="0"/>
          </a:p>
        </p:txBody>
      </p:sp>
      <p:sp>
        <p:nvSpPr>
          <p:cNvPr id="105" name="Text 103"/>
          <p:cNvSpPr/>
          <p:nvPr/>
        </p:nvSpPr>
        <p:spPr>
          <a:xfrm>
            <a:off x="9006840" y="5394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4D39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ตารางย่อย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กลยุทธ์: เริ่มจากช่องที่ตัวเลือกน้อยที่สุด</a:t>
            </a:r>
            <a:endParaRPr lang="en-US" sz="3400" dirty="0"/>
          </a:p>
        </p:txBody>
      </p:sp>
      <p:sp>
        <p:nvSpPr>
          <p:cNvPr id="28" name="Shape 26"/>
          <p:cNvSpPr/>
          <p:nvPr/>
        </p:nvSpPr>
        <p:spPr>
          <a:xfrm>
            <a:off x="640080" y="1965960"/>
            <a:ext cx="4754880" cy="4160520"/>
          </a:xfrm>
          <a:prstGeom prst="roundRect">
            <a:avLst>
              <a:gd name="adj" fmla="val 1978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417320" y="2377440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41732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2160" dirty="0"/>
          </a:p>
        </p:txBody>
      </p:sp>
      <p:sp>
        <p:nvSpPr>
          <p:cNvPr id="31" name="Shape 29"/>
          <p:cNvSpPr/>
          <p:nvPr/>
        </p:nvSpPr>
        <p:spPr>
          <a:xfrm>
            <a:off x="2075688" y="2377440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5688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2160" dirty="0"/>
          </a:p>
        </p:txBody>
      </p:sp>
      <p:sp>
        <p:nvSpPr>
          <p:cNvPr id="33" name="Shape 31"/>
          <p:cNvSpPr/>
          <p:nvPr/>
        </p:nvSpPr>
        <p:spPr>
          <a:xfrm>
            <a:off x="2734056" y="2377440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34056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2160" dirty="0"/>
          </a:p>
        </p:txBody>
      </p:sp>
      <p:sp>
        <p:nvSpPr>
          <p:cNvPr id="35" name="Shape 33"/>
          <p:cNvSpPr/>
          <p:nvPr/>
        </p:nvSpPr>
        <p:spPr>
          <a:xfrm>
            <a:off x="3392424" y="2377440"/>
            <a:ext cx="658368" cy="658368"/>
          </a:xfrm>
          <a:prstGeom prst="rect">
            <a:avLst/>
          </a:prstGeom>
          <a:solidFill>
            <a:srgbClr val="FBBF24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17320" y="3035808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75688" y="3035808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5688" y="30358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2160" dirty="0"/>
          </a:p>
        </p:txBody>
      </p:sp>
      <p:sp>
        <p:nvSpPr>
          <p:cNvPr id="39" name="Shape 37"/>
          <p:cNvSpPr/>
          <p:nvPr/>
        </p:nvSpPr>
        <p:spPr>
          <a:xfrm>
            <a:off x="2734056" y="3035808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92424" y="3035808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17320" y="3694176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75688" y="3694176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734056" y="3694176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34056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2160" dirty="0"/>
          </a:p>
        </p:txBody>
      </p:sp>
      <p:sp>
        <p:nvSpPr>
          <p:cNvPr id="45" name="Shape 43"/>
          <p:cNvSpPr/>
          <p:nvPr/>
        </p:nvSpPr>
        <p:spPr>
          <a:xfrm>
            <a:off x="3392424" y="3694176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417320" y="4352544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417320" y="435254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2160" dirty="0"/>
          </a:p>
        </p:txBody>
      </p:sp>
      <p:sp>
        <p:nvSpPr>
          <p:cNvPr id="48" name="Shape 46"/>
          <p:cNvSpPr/>
          <p:nvPr/>
        </p:nvSpPr>
        <p:spPr>
          <a:xfrm>
            <a:off x="2075688" y="4352544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34056" y="4352544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92424" y="4352544"/>
            <a:ext cx="658368" cy="658368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392424" y="435254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2160" dirty="0"/>
          </a:p>
        </p:txBody>
      </p:sp>
      <p:sp>
        <p:nvSpPr>
          <p:cNvPr id="52" name="Shape 50"/>
          <p:cNvSpPr/>
          <p:nvPr/>
        </p:nvSpPr>
        <p:spPr>
          <a:xfrm>
            <a:off x="1417320" y="2377440"/>
            <a:ext cx="263347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17320" y="3694176"/>
            <a:ext cx="263347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417320" y="5010912"/>
            <a:ext cx="263347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417320" y="2377440"/>
            <a:ext cx="0" cy="2633472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34056" y="2377440"/>
            <a:ext cx="0" cy="2633472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050792" y="2377440"/>
            <a:ext cx="0" cy="2633472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5623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BBF24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มีช่องว่างเดียว → คำตอบเดียว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5852160" y="1965960"/>
            <a:ext cx="5669280" cy="4160520"/>
          </a:xfrm>
          <a:prstGeom prst="roundRect">
            <a:avLst>
              <a:gd name="adj" fmla="val 1978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217920" y="237744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2D3E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ทำไมต้องเริ่มจากช่องที่ว่างน้อยที่สุด?</a:t>
            </a:r>
            <a:endParaRPr lang="en-US" sz="2200" dirty="0"/>
          </a:p>
          <a:p>
            <a:pPr marL="0" indent="0">
              <a:lnSpc>
                <a:spcPct val="115000"/>
              </a:lnSpc>
              <a:buNone/>
            </a:pPr>
            <a:endParaRPr lang="en-US" sz="2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ช่องที่เหลือตัวเลือกน้อย = สรุปคำตอบได้แน่นอน</a:t>
            </a:r>
            <a:endParaRPr lang="en-US" sz="2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ไม่ต้องเดาสุ่ม → ผิดพลาดน้อยลง → แก้ได้เร็วขึ้น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217920" y="5303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นี่คือการคิดอย่างเป็นระบบ (Algorithmic Thinking)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ELABORATE // HANDS-ON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ลงมือทำในระบบ FlowQuest</a:t>
            </a:r>
            <a:endParaRPr lang="en-US" sz="3400" dirty="0"/>
          </a:p>
        </p:txBody>
      </p:sp>
      <p:sp>
        <p:nvSpPr>
          <p:cNvPr id="33" name="Shape 31"/>
          <p:cNvSpPr/>
          <p:nvPr/>
        </p:nvSpPr>
        <p:spPr>
          <a:xfrm>
            <a:off x="640080" y="196596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" y="2130552"/>
            <a:ext cx="594360" cy="594360"/>
          </a:xfrm>
          <a:prstGeom prst="ellipse">
            <a:avLst/>
          </a:prstGeom>
          <a:solidFill>
            <a:srgbClr val="22D3EE"/>
          </a:solidFill>
          <a:ln/>
          <a:effectLst>
            <a:outerShdw blurRad="177800" dist="50800" dir="16200000" algn="bl" rotWithShape="0">
              <a:srgbClr val="22D3EE">
                <a:alpha val="5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14400" y="213055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783080" y="2011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เลือกด่านซูโดกุ</a:t>
            </a:r>
            <a:r>
              <a:rPr lang="en-US" sz="21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6×6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5852160" y="20116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แล้วแตะช่อง → เลือกสัญลักษณ์เติม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40080" y="3026664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14400" y="3191256"/>
            <a:ext cx="594360" cy="594360"/>
          </a:xfrm>
          <a:prstGeom prst="ellipse">
            <a:avLst/>
          </a:prstGeom>
          <a:solidFill>
            <a:srgbClr val="22D3EE"/>
          </a:solidFill>
          <a:ln/>
          <a:effectLst>
            <a:outerShdw blurRad="177800" dist="50800" dir="16200000" algn="bl" rotWithShape="0">
              <a:srgbClr val="22D3EE">
                <a:alpha val="5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14400" y="319125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83080" y="307238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ระบบตรวจให้ทันที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5852160" y="307238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แจ้งเตือน (แดง) เมื่อซ้ำแถวแนวนอน/แนวตั้ง/ตารางย่อย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40080" y="4087368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14400" y="4251960"/>
            <a:ext cx="594360" cy="594360"/>
          </a:xfrm>
          <a:prstGeom prst="ellipse">
            <a:avLst/>
          </a:prstGeom>
          <a:solidFill>
            <a:srgbClr val="22D3EE"/>
          </a:solidFill>
          <a:ln/>
          <a:effectLst>
            <a:outerShdw blurRad="177800" dist="50800" dir="16200000" algn="bl" rotWithShape="0">
              <a:srgbClr val="22D3EE">
                <a:alpha val="5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4251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020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783080" y="413308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กดส่งคำตอบ</a:t>
            </a:r>
            <a:endParaRPr lang="en-US" sz="2100" dirty="0"/>
          </a:p>
        </p:txBody>
      </p:sp>
      <p:sp>
        <p:nvSpPr>
          <p:cNvPr id="47" name="Text 45"/>
          <p:cNvSpPr/>
          <p:nvPr/>
        </p:nvSpPr>
        <p:spPr>
          <a:xfrm>
            <a:off x="5852160" y="413308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Auto Validation + จับเวลา + เก็บแต้มขึ้น Leaderboard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ELABORATE // 15 MIN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ท้าทายขึ้น: ตาราง 6×6</a:t>
            </a:r>
            <a:endParaRPr lang="en-US" sz="3400" dirty="0"/>
          </a:p>
        </p:txBody>
      </p:sp>
      <p:sp>
        <p:nvSpPr>
          <p:cNvPr id="28" name="Shape 26"/>
          <p:cNvSpPr/>
          <p:nvPr/>
        </p:nvSpPr>
        <p:spPr>
          <a:xfrm>
            <a:off x="640080" y="1965960"/>
            <a:ext cx="4572000" cy="4160520"/>
          </a:xfrm>
          <a:prstGeom prst="roundRect">
            <a:avLst>
              <a:gd name="adj" fmla="val 1978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143000" y="2286000"/>
            <a:ext cx="576072" cy="576072"/>
          </a:xfrm>
          <a:prstGeom prst="rect">
            <a:avLst/>
          </a:prstGeom>
          <a:solidFill>
            <a:srgbClr val="8B5CF6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19072" y="2286000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19072" y="2286000"/>
            <a:ext cx="57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9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890" dirty="0"/>
          </a:p>
        </p:txBody>
      </p:sp>
      <p:sp>
        <p:nvSpPr>
          <p:cNvPr id="32" name="Shape 30"/>
          <p:cNvSpPr/>
          <p:nvPr/>
        </p:nvSpPr>
        <p:spPr>
          <a:xfrm>
            <a:off x="2295144" y="2286000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1216" y="2286000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47288" y="2286000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23360" y="2286000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43000" y="2862072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719072" y="2862072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95144" y="2862072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71216" y="2862072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71216" y="2862072"/>
            <a:ext cx="57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9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890" dirty="0"/>
          </a:p>
        </p:txBody>
      </p:sp>
      <p:sp>
        <p:nvSpPr>
          <p:cNvPr id="41" name="Shape 39"/>
          <p:cNvSpPr/>
          <p:nvPr/>
        </p:nvSpPr>
        <p:spPr>
          <a:xfrm>
            <a:off x="3447288" y="2862072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23360" y="2862072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43000" y="3438144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719072" y="3438144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95144" y="3438144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871216" y="3438144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447288" y="3438144"/>
            <a:ext cx="576072" cy="576072"/>
          </a:xfrm>
          <a:prstGeom prst="rect">
            <a:avLst/>
          </a:prstGeom>
          <a:solidFill>
            <a:srgbClr val="8B5CF6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23360" y="3438144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43000" y="4014216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143000" y="4014216"/>
            <a:ext cx="57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9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890" dirty="0"/>
          </a:p>
        </p:txBody>
      </p:sp>
      <p:sp>
        <p:nvSpPr>
          <p:cNvPr id="51" name="Shape 49"/>
          <p:cNvSpPr/>
          <p:nvPr/>
        </p:nvSpPr>
        <p:spPr>
          <a:xfrm>
            <a:off x="1719072" y="4014216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295144" y="4014216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871216" y="4014216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47288" y="4014216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023360" y="4014216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143000" y="4590288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719072" y="4590288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295144" y="4590288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871216" y="4590288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447288" y="4590288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447288" y="4590288"/>
            <a:ext cx="57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9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890" dirty="0"/>
          </a:p>
        </p:txBody>
      </p:sp>
      <p:sp>
        <p:nvSpPr>
          <p:cNvPr id="62" name="Shape 60"/>
          <p:cNvSpPr/>
          <p:nvPr/>
        </p:nvSpPr>
        <p:spPr>
          <a:xfrm>
            <a:off x="4023360" y="4590288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43000" y="5166360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719072" y="5166360"/>
            <a:ext cx="576072" cy="576072"/>
          </a:xfrm>
          <a:prstGeom prst="rect">
            <a:avLst/>
          </a:prstGeom>
          <a:solidFill>
            <a:srgbClr val="8B5CF6">
              <a:alpha val="50000"/>
            </a:srgbClr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95144" y="5166360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871216" y="5166360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447288" y="5166360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023360" y="5166360"/>
            <a:ext cx="576072" cy="576072"/>
          </a:xfrm>
          <a:prstGeom prst="rect">
            <a:avLst/>
          </a:prstGeom>
          <a:solidFill>
            <a:srgbClr val="151C3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23360" y="5166360"/>
            <a:ext cx="57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9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890" dirty="0"/>
          </a:p>
        </p:txBody>
      </p:sp>
      <p:sp>
        <p:nvSpPr>
          <p:cNvPr id="70" name="Shape 68"/>
          <p:cNvSpPr/>
          <p:nvPr/>
        </p:nvSpPr>
        <p:spPr>
          <a:xfrm>
            <a:off x="1143000" y="2286000"/>
            <a:ext cx="345643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43000" y="3438144"/>
            <a:ext cx="345643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143000" y="4590288"/>
            <a:ext cx="345643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43000" y="5742432"/>
            <a:ext cx="345643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143000" y="2286000"/>
            <a:ext cx="0" cy="3456432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871216" y="2286000"/>
            <a:ext cx="0" cy="3456432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599432" y="2286000"/>
            <a:ext cx="0" cy="3456432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669280" y="1965960"/>
            <a:ext cx="5852160" cy="4160520"/>
          </a:xfrm>
          <a:prstGeom prst="roundRect">
            <a:avLst>
              <a:gd name="adj" fmla="val 1978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035040" y="2377440"/>
            <a:ext cx="5212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ประยุกต์กลยุทธ์เดิมกับโจทย์ยากขึ้น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อธิบายเหตุผลของการเติมแต่ละช่องให้ครูฟังเป็นรายบุคคล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ปรับปรุงแก้ไขเอง (Debugging) เมื่อระบบแจ้งขัดเงื่อนไข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เล่นซ้ำได้ไม่จำกัด — มุ่งมั่นจนสำเร็จ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 // EXIT TICKET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วัดความรู้รายบุคคล (กระดานระดมความคิด)</a:t>
            </a:r>
            <a:endParaRPr lang="en-US" sz="3400" dirty="0"/>
          </a:p>
        </p:txBody>
      </p:sp>
      <p:sp>
        <p:nvSpPr>
          <p:cNvPr id="28" name="Shape 26"/>
          <p:cNvSpPr/>
          <p:nvPr/>
        </p:nvSpPr>
        <p:spPr>
          <a:xfrm>
            <a:off x="640080" y="210312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2377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960120" y="3200400"/>
            <a:ext cx="2788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 err="1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จากตาราง</a:t>
            </a:r>
            <a:r>
              <a:rPr lang="th-TH" sz="2000" dirty="0" err="1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ซูโ</a:t>
            </a:r>
            <a:r>
              <a:rPr lang="th-TH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ดก</a:t>
            </a:r>
            <a:r>
              <a:rPr lang="th-TH" sz="2000" dirty="0" err="1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ุ</a:t>
            </a:r>
            <a:r>
              <a:rPr lang="th-TH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ที่ครูกำหนดให้</a:t>
            </a:r>
            <a:r>
              <a:rPr lang="en-US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 ควรเริ่มเติมช่องใดก่อน เพราะเหตุใด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343400" y="210312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663440" y="2377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4663440" y="3200400"/>
            <a:ext cx="2788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อธิบายกติกาซูโดกุด้วยคำพูดของตนเอง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8046720" y="210312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366760" y="2377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8366760" y="3200400"/>
            <a:ext cx="2788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ยกตัวอย่างการใช้เหตุผลเชิงตรรกะในชีวิตประจำวัน 1 สถานการณ์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ตั้งค่า “เห็นเฉพาะโพสต์ของตนเอง” — ตอบอิสระ ครูอ่านประเมินรายคน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592251-3DB2-8E96-00D1-7ECCDA4A3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019ADF0-2C3E-E157-D448-F522DC7754E4}"/>
              </a:ext>
            </a:extLst>
          </p:cNvPr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5D4543E-3E0D-52D8-EAA5-305690102DDB}"/>
              </a:ext>
            </a:extLst>
          </p:cNvPr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1674DBD-5C6A-DA33-85AF-7935E169091D}"/>
              </a:ext>
            </a:extLst>
          </p:cNvPr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31473DB-DF33-1FD0-E818-DA3582BA1EB4}"/>
              </a:ext>
            </a:extLst>
          </p:cNvPr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8248C85-58C9-56C3-C590-1734E7AFAE92}"/>
              </a:ext>
            </a:extLst>
          </p:cNvPr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C5BD1BD-5BC4-DAF2-9B61-BC5376FECA64}"/>
              </a:ext>
            </a:extLst>
          </p:cNvPr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CA0728D-1E05-87BF-F570-7ACB65EE9FFC}"/>
              </a:ext>
            </a:extLst>
          </p:cNvPr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76834B5-DF7F-34AE-A2C2-0970BFFE1A8C}"/>
              </a:ext>
            </a:extLst>
          </p:cNvPr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927F126-8668-7AB2-727B-779FDE54519B}"/>
              </a:ext>
            </a:extLst>
          </p:cNvPr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C7AEBEA1-3462-8131-0409-6ADA8ACCDEDD}"/>
              </a:ext>
            </a:extLst>
          </p:cNvPr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795563-FF24-4D34-8EA1-0D0898F41BEC}"/>
              </a:ext>
            </a:extLst>
          </p:cNvPr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A6EF049-B0EF-2229-8AA9-CEBF5BCE8EE8}"/>
              </a:ext>
            </a:extLst>
          </p:cNvPr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4D56532-C005-92ED-8D4C-D61074DFC205}"/>
              </a:ext>
            </a:extLst>
          </p:cNvPr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2627AE4-F5C0-A8E8-360A-88F5482C34FD}"/>
              </a:ext>
            </a:extLst>
          </p:cNvPr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B4BF1063-53B7-DE17-4D35-CF06D4F747EF}"/>
              </a:ext>
            </a:extLst>
          </p:cNvPr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DBBF4C7-1879-20DC-005D-F28895BC3E35}"/>
              </a:ext>
            </a:extLst>
          </p:cNvPr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ACDB59F0-A265-F277-8D11-30C0CA2D9703}"/>
              </a:ext>
            </a:extLst>
          </p:cNvPr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BF130312-8A14-F257-3B57-70B46686557B}"/>
              </a:ext>
            </a:extLst>
          </p:cNvPr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7CB9019-8E64-D873-DD96-6F8B7BD715A6}"/>
              </a:ext>
            </a:extLst>
          </p:cNvPr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10DCAB5-F0E2-F945-635F-143905A6CE22}"/>
              </a:ext>
            </a:extLst>
          </p:cNvPr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04D26ABE-4175-4B49-7EF8-6853E96B2BEC}"/>
              </a:ext>
            </a:extLst>
          </p:cNvPr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5CDFECD-4C16-88C4-918A-2B22FA86BB87}"/>
              </a:ext>
            </a:extLst>
          </p:cNvPr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6238440-60EE-14BB-D898-3ACF97D121A3}"/>
              </a:ext>
            </a:extLst>
          </p:cNvPr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6B3FBD11-CAFC-E2FB-E8D8-A004E9D4FF71}"/>
              </a:ext>
            </a:extLst>
          </p:cNvPr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0F06FA5-4F28-E4FA-9FB9-920C72471298}"/>
              </a:ext>
            </a:extLst>
          </p:cNvPr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 // Reflection</a:t>
            </a:r>
            <a:endParaRPr lang="en-US" sz="13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7C632A4B-53AC-BD81-BE87-2705D868B664}"/>
              </a:ext>
            </a:extLst>
          </p:cNvPr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สะท้อนคิด (</a:t>
            </a: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Reflection) </a:t>
            </a:r>
            <a:r>
              <a:rPr lang="th-TH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เป็นรายบุคคล </a:t>
            </a: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(กระดานระดมความคิด)</a:t>
            </a:r>
            <a:endParaRPr lang="en-US" sz="34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3F79E560-563E-7812-1301-AEF49648B692}"/>
              </a:ext>
            </a:extLst>
          </p:cNvPr>
          <p:cNvSpPr/>
          <p:nvPr/>
        </p:nvSpPr>
        <p:spPr>
          <a:xfrm>
            <a:off x="2560320" y="198882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0E9EF52-BE56-8520-8482-A0B0423EA6BB}"/>
              </a:ext>
            </a:extLst>
          </p:cNvPr>
          <p:cNvSpPr/>
          <p:nvPr/>
        </p:nvSpPr>
        <p:spPr>
          <a:xfrm>
            <a:off x="2880360" y="22631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30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FC7F5014-247C-0B5C-E401-7017562A769A}"/>
              </a:ext>
            </a:extLst>
          </p:cNvPr>
          <p:cNvSpPr/>
          <p:nvPr/>
        </p:nvSpPr>
        <p:spPr>
          <a:xfrm>
            <a:off x="2880360" y="3086100"/>
            <a:ext cx="2788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วันนี้ฉันเรียนรู้ว่า...” </a:t>
            </a:r>
            <a:endParaRPr lang="en-US" sz="20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E684A1F-3BC8-2AF1-F986-A5A8D40A5036}"/>
              </a:ext>
            </a:extLst>
          </p:cNvPr>
          <p:cNvSpPr/>
          <p:nvPr/>
        </p:nvSpPr>
        <p:spPr>
          <a:xfrm>
            <a:off x="6263640" y="198882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2D83073F-5D65-E8E3-E6DD-800D986F8C8B}"/>
              </a:ext>
            </a:extLst>
          </p:cNvPr>
          <p:cNvSpPr/>
          <p:nvPr/>
        </p:nvSpPr>
        <p:spPr>
          <a:xfrm>
            <a:off x="6583680" y="22631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30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38870BCA-4757-EA7A-E94A-BBF06206036F}"/>
              </a:ext>
            </a:extLst>
          </p:cNvPr>
          <p:cNvSpPr/>
          <p:nvPr/>
        </p:nvSpPr>
        <p:spPr>
          <a:xfrm>
            <a:off x="6583680" y="3086100"/>
            <a:ext cx="2788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sz="20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ฉันจะนำการใช้เหตุผลเชิงตรรกะไปใช้ตอน...</a:t>
            </a:r>
            <a:endParaRPr lang="en-US" sz="20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A792FB5-B0A4-15A2-CD41-9F48983A9364}"/>
              </a:ext>
            </a:extLst>
          </p:cNvPr>
          <p:cNvSpPr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ตั้งค่า “เห็นเฉพาะโพสต์ของตนเอง” — ตอบอิสระ ครูอ่านประเมินรายคน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7777230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515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515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515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515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2591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2591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2591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00023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0023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0023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0023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455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27455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7455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7455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54887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54887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4887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54887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823192" y="22860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823192" y="50292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823192" y="77724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823192" y="1051560"/>
            <a:ext cx="45720" cy="457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WRAP-UP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สรุปท้ายชั่วโมง</a:t>
            </a:r>
            <a:endParaRPr lang="en-US" sz="3400" dirty="0"/>
          </a:p>
        </p:txBody>
      </p:sp>
      <p:sp>
        <p:nvSpPr>
          <p:cNvPr id="28" name="Shape 26"/>
          <p:cNvSpPr/>
          <p:nvPr/>
        </p:nvSpPr>
        <p:spPr>
          <a:xfrm>
            <a:off x="640080" y="2011680"/>
            <a:ext cx="10908792" cy="1554480"/>
          </a:xfrm>
          <a:prstGeom prst="roundRect">
            <a:avLst>
              <a:gd name="adj" fmla="val 5294"/>
            </a:avLst>
          </a:prstGeom>
          <a:solidFill>
            <a:srgbClr val="141C33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05840" y="2194560"/>
            <a:ext cx="10177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ใช้เหตุผลเชิงตรรกะ = นำเงื่อนไขทุกกรณีมาพิจารณา หาคำตอบเดียว • เริ่มจากช่องที่ตัวเลือกน้อยสุด ช่วยให้เร็วและแม่นยำ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40080" y="3794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นำไปใช้ในชีวิตประจำวันได้ เช่น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40080" y="4343400"/>
            <a:ext cx="3429000" cy="1783080"/>
          </a:xfrm>
          <a:prstGeom prst="roundRect">
            <a:avLst>
              <a:gd name="adj" fmla="val 4615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60120" y="4617720"/>
            <a:ext cx="457200" cy="457200"/>
          </a:xfrm>
          <a:prstGeom prst="ellipse">
            <a:avLst/>
          </a:prstGeom>
          <a:solidFill>
            <a:srgbClr val="FBBF24"/>
          </a:solidFill>
          <a:ln/>
          <a:effectLst>
            <a:outerShdw blurRad="177800" dist="50800" dir="16200000" algn="bl" rotWithShape="0">
              <a:srgbClr val="FBBF24">
                <a:alpha val="5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554480" y="4526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จัดลำดับงานบ้าน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960120" y="5212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พิจารณาเงื่อนไขเวลา &amp; ความสำคัญ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43400" y="4343400"/>
            <a:ext cx="3429000" cy="1783080"/>
          </a:xfrm>
          <a:prstGeom prst="roundRect">
            <a:avLst>
              <a:gd name="adj" fmla="val 4615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4617720"/>
            <a:ext cx="457200" cy="457200"/>
          </a:xfrm>
          <a:prstGeom prst="ellipse">
            <a:avLst/>
          </a:prstGeom>
          <a:solidFill>
            <a:srgbClr val="34D399"/>
          </a:solidFill>
          <a:ln/>
          <a:effectLst>
            <a:outerShdw blurRad="177800" dist="50800" dir="16200000" algn="bl" rotWithShape="0">
              <a:srgbClr val="34D399">
                <a:alpha val="5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257800" y="4526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เลือกของเข้าค่าย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4663440" y="5212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ดูเงื่อนไขความจำเป็น &amp; น้ำหนัก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046720" y="4343400"/>
            <a:ext cx="3429000" cy="1783080"/>
          </a:xfrm>
          <a:prstGeom prst="roundRect">
            <a:avLst>
              <a:gd name="adj" fmla="val 4615"/>
            </a:avLst>
          </a:prstGeom>
          <a:solidFill>
            <a:srgbClr val="1A2340"/>
          </a:solidFill>
          <a:ln w="12700">
            <a:solidFill>
              <a:srgbClr val="2A3550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366760" y="4617720"/>
            <a:ext cx="457200" cy="457200"/>
          </a:xfrm>
          <a:prstGeom prst="ellipse">
            <a:avLst/>
          </a:prstGeom>
          <a:solidFill>
            <a:srgbClr val="3B82F6"/>
          </a:solidFill>
          <a:ln/>
          <a:effectLst>
            <a:outerShdw blurRad="177800" dist="50800" dir="16200000" algn="bl" rotWithShape="0">
              <a:srgbClr val="3B82F6">
                <a:alpha val="5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961120" y="4526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1F5F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ตัดสินใจพกร่ม</a:t>
            </a:r>
            <a:endParaRPr lang="en-US" sz="1900" dirty="0"/>
          </a:p>
        </p:txBody>
      </p:sp>
      <p:sp>
        <p:nvSpPr>
          <p:cNvPr id="42" name="Text 40"/>
          <p:cNvSpPr/>
          <p:nvPr/>
        </p:nvSpPr>
        <p:spPr>
          <a:xfrm>
            <a:off x="8366760" y="5212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พิจารณาจากสภาพอากาศ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949</Words>
  <Application>Microsoft Macintosh PowerPoint</Application>
  <PresentationFormat>Widescreen</PresentationFormat>
  <Paragraphs>148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Courier New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ซูโดกุ ป.5</dc:title>
  <dc:subject>PptxGenJS Presentation</dc:subject>
  <dc:creator>FlowQuest</dc:creator>
  <cp:lastModifiedBy>b320@ekq.me</cp:lastModifiedBy>
  <cp:revision>6</cp:revision>
  <dcterms:created xsi:type="dcterms:W3CDTF">2026-07-07T04:04:36Z</dcterms:created>
  <dcterms:modified xsi:type="dcterms:W3CDTF">2026-07-07T09:39:13Z</dcterms:modified>
</cp:coreProperties>
</file>